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Arial"/>
              </a:rPr>
              <a:t>Lunar crater patches (F1)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Boundary F1 (1-px)</c:v>
                </c:pt>
              </c:strCache>
            </c:strRef>
          </c:tx>
          <c:spPr>
            <a:solidFill>
              <a:srgbClr val="FF7F0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7F0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A0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F77B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canny</c:v>
                  </c:pt>
                  <c:pt idx="1">
                    <c:v>neqr</c:v>
                  </c:pt>
                  <c:pt idx="2">
                    <c:v>qhed</c:v>
                  </c:pt>
                  <c:pt idx="3">
                    <c:v>robinson</c:v>
                  </c:pt>
                  <c:pt idx="4">
                    <c:v>sobel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0.2225906948145112</c:v>
                </c:pt>
                <c:pt idx="1">
                  <c:v>0.8805944873056358</c:v>
                </c:pt>
                <c:pt idx="2">
                  <c:v>0.4180136624281356</c:v>
                </c:pt>
                <c:pt idx="3">
                  <c:v>0.8798271812172288</c:v>
                </c:pt>
                <c:pt idx="4">
                  <c:v>0.8697238631283991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Arial"/>
              </a:rPr>
              <a:t>Raw gate count vs resolution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QHED raw gates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</c:v>
                  </c:pt>
                  <c:pt idx="1">
                    <c:v>8</c:v>
                  </c:pt>
                  <c:pt idx="2">
                    <c:v>16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23</c:v>
                </c:pt>
                <c:pt idx="2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NEQR raw gates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</c:v>
                  </c:pt>
                  <c:pt idx="1">
                    <c:v>8</c:v>
                  </c:pt>
                  <c:pt idx="2">
                    <c:v>16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290</c:v>
                </c:pt>
                <c:pt idx="1">
                  <c:v>1302</c:v>
                </c:pt>
                <c:pt idx="2">
                  <c:v>6010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Arial"/>
              </a:rPr>
              <a:t>Boundary F1 vs shots (8×8 circle, n=10)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qhed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512</c:v>
                  </c:pt>
                  <c:pt idx="1">
                    <c:v>1024</c:v>
                  </c:pt>
                  <c:pt idx="2">
                    <c:v>2048</c:v>
                  </c:pt>
                  <c:pt idx="3">
                    <c:v>4096</c:v>
                  </c:pt>
                  <c:pt idx="4">
                    <c:v>8192</c:v>
                  </c:pt>
                  <c:pt idx="5">
                    <c:v>16384</c:v>
                  </c:pt>
                  <c:pt idx="6">
                    <c:v>32768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0.7590316977854972</c:v>
                </c:pt>
                <c:pt idx="1">
                  <c:v>0.7755102040816325</c:v>
                </c:pt>
                <c:pt idx="2">
                  <c:v>0.7755102040816325</c:v>
                </c:pt>
                <c:pt idx="3">
                  <c:v>0.7755102040816325</c:v>
                </c:pt>
                <c:pt idx="4">
                  <c:v>0.7755102040816325</c:v>
                </c:pt>
                <c:pt idx="5">
                  <c:v>0.7755102040816325</c:v>
                </c:pt>
                <c:pt idx="6">
                  <c:v>0.7755102040816325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neqr</c:v>
                </c:pt>
              </c:strCache>
            </c:strRef>
          </c:tx>
          <c:spPr>
            <a:solidFill>
              <a:srgbClr val="7C3AED"/>
            </a:solidFill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512</c:v>
                  </c:pt>
                  <c:pt idx="1">
                    <c:v>1024</c:v>
                  </c:pt>
                  <c:pt idx="2">
                    <c:v>2048</c:v>
                  </c:pt>
                  <c:pt idx="3">
                    <c:v>4096</c:v>
                  </c:pt>
                  <c:pt idx="4">
                    <c:v>8192</c:v>
                  </c:pt>
                  <c:pt idx="5">
                    <c:v>16384</c:v>
                  </c:pt>
                  <c:pt idx="6">
                    <c:v>32768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0.7755102040816325</c:v>
                </c:pt>
                <c:pt idx="1">
                  <c:v>0.7755102040816325</c:v>
                </c:pt>
                <c:pt idx="2">
                  <c:v>0.7755102040816325</c:v>
                </c:pt>
                <c:pt idx="3">
                  <c:v>0.7755102040816325</c:v>
                </c:pt>
                <c:pt idx="4">
                  <c:v>0.7755102040816325</c:v>
                </c:pt>
                <c:pt idx="5">
                  <c:v>0.7755102040816325</c:v>
                </c:pt>
                <c:pt idx="6">
                  <c:v>0.7755102040816325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Arial"/>
              </a:rPr>
              <a:t>Robustness AUC by degradation family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gaussian_noise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sobel</c:v>
                  </c:pt>
                  <c:pt idx="1">
                    <c:v>canny</c:v>
                  </c:pt>
                  <c:pt idx="2">
                    <c:v>robinson</c:v>
                  </c:pt>
                  <c:pt idx="3">
                    <c:v>qhed</c:v>
                  </c:pt>
                  <c:pt idx="4">
                    <c:v>neqr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0.9769708600063726</c:v>
                </c:pt>
                <c:pt idx="1">
                  <c:v>0.8308823529411764</c:v>
                </c:pt>
                <c:pt idx="2">
                  <c:v>0.8917337461300309</c:v>
                </c:pt>
                <c:pt idx="3">
                  <c:v>0.7760770975056688</c:v>
                </c:pt>
                <c:pt idx="4">
                  <c:v>0.7739403453689166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gaussian_blur</c:v>
                </c:pt>
              </c:strCache>
            </c:strRef>
          </c:tx>
          <c:spPr>
            <a:solidFill>
              <a:srgbClr val="C084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sobel</c:v>
                  </c:pt>
                  <c:pt idx="1">
                    <c:v>canny</c:v>
                  </c:pt>
                  <c:pt idx="2">
                    <c:v>robinson</c:v>
                  </c:pt>
                  <c:pt idx="3">
                    <c:v>qhed</c:v>
                  </c:pt>
                  <c:pt idx="4">
                    <c:v>neqr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0.9479166666666666</c:v>
                </c:pt>
                <c:pt idx="1">
                  <c:v>0.8333333333333333</c:v>
                </c:pt>
                <c:pt idx="2">
                  <c:v>0.9343560534293291</c:v>
                </c:pt>
                <c:pt idx="3">
                  <c:v>0.8790011295039414</c:v>
                </c:pt>
                <c:pt idx="4">
                  <c:v>0.8851889032691898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contrast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sobel</c:v>
                  </c:pt>
                  <c:pt idx="1">
                    <c:v>canny</c:v>
                  </c:pt>
                  <c:pt idx="2">
                    <c:v>robinson</c:v>
                  </c:pt>
                  <c:pt idx="3">
                    <c:v>qhed</c:v>
                  </c:pt>
                  <c:pt idx="4">
                    <c:v>neqr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0.8333333333333333</c:v>
                </c:pt>
                <c:pt idx="2">
                  <c:v>0.8750000000000001</c:v>
                </c:pt>
                <c:pt idx="3">
                  <c:v>0.7755102040816326</c:v>
                </c:pt>
                <c:pt idx="4">
                  <c:v>0.7755102040816326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illumination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sobel</c:v>
                  </c:pt>
                  <c:pt idx="1">
                    <c:v>canny</c:v>
                  </c:pt>
                  <c:pt idx="2">
                    <c:v>robinson</c:v>
                  </c:pt>
                  <c:pt idx="3">
                    <c:v>qhed</c:v>
                  </c:pt>
                  <c:pt idx="4">
                    <c:v>neqr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0.97688060731539</c:v>
                </c:pt>
                <c:pt idx="1">
                  <c:v>0.8333333333333334</c:v>
                </c:pt>
                <c:pt idx="2">
                  <c:v>0.9043786433492316</c:v>
                </c:pt>
                <c:pt idx="3">
                  <c:v>0.7891156462585034</c:v>
                </c:pt>
                <c:pt idx="4">
                  <c:v>0.7891156462585034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Arial"/>
              </a:rPr>
              <a:t>Hellinger circuit fidelity vs depolarizing p (2×2 — H5)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qhed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ideal</c:v>
                  </c:pt>
                  <c:pt idx="1">
                    <c:v>p=0.001</c:v>
                  </c:pt>
                  <c:pt idx="2">
                    <c:v>p=0.005</c:v>
                  </c:pt>
                  <c:pt idx="3">
                    <c:v>p=0.01</c:v>
                  </c:pt>
                  <c:pt idx="4">
                    <c:v>p=0.05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/>
                </c:pt>
                <c:pt idx="1">
                  <c:v>0.9989795111844282</c:v>
                </c:pt>
                <c:pt idx="2">
                  <c:v>0.9990376061863426</c:v>
                </c:pt>
                <c:pt idx="3">
                  <c:v>0.998938975996656</c:v>
                </c:pt>
                <c:pt idx="4">
                  <c:v>0.9956613889645534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neqr</c:v>
                </c:pt>
              </c:strCache>
            </c:strRef>
          </c:tx>
          <c:spPr>
            <a:solidFill>
              <a:srgbClr val="7C3AED"/>
            </a:solidFill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ideal</c:v>
                  </c:pt>
                  <c:pt idx="1">
                    <c:v>p=0.001</c:v>
                  </c:pt>
                  <c:pt idx="2">
                    <c:v>p=0.005</c:v>
                  </c:pt>
                  <c:pt idx="3">
                    <c:v>p=0.01</c:v>
                  </c:pt>
                  <c:pt idx="4">
                    <c:v>p=0.05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/>
                </c:pt>
                <c:pt idx="1">
                  <c:v>0.8007093025115699</c:v>
                </c:pt>
                <c:pt idx="2">
                  <c:v>0.3309157840867556</c:v>
                </c:pt>
                <c:pt idx="3">
                  <c:v>0.1175670351681695</c:v>
                </c:pt>
                <c:pt idx="4">
                  <c:v>0.0034149351058428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Arial"/>
              </a:rPr>
              <a:t>F1 by geometry (8×8, identical contrast)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sobel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circle</c:v>
                  </c:pt>
                  <c:pt idx="1">
                    <c:v>corner</c:v>
                  </c:pt>
                  <c:pt idx="2">
                    <c:v>diagonal_45</c:v>
                  </c:pt>
                  <c:pt idx="3">
                    <c:v>ellipse</c:v>
                  </c:pt>
                  <c:pt idx="4">
                    <c:v>horizontal_line</c:v>
                  </c:pt>
                  <c:pt idx="5">
                    <c:v>irregular_curve</c:v>
                  </c:pt>
                  <c:pt idx="6">
                    <c:v>multi_circles</c:v>
                  </c:pt>
                  <c:pt idx="7">
                    <c:v>vertical_line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robinson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circle</c:v>
                  </c:pt>
                  <c:pt idx="1">
                    <c:v>corner</c:v>
                  </c:pt>
                  <c:pt idx="2">
                    <c:v>diagonal_45</c:v>
                  </c:pt>
                  <c:pt idx="3">
                    <c:v>ellipse</c:v>
                  </c:pt>
                  <c:pt idx="4">
                    <c:v>horizontal_line</c:v>
                  </c:pt>
                  <c:pt idx="5">
                    <c:v>irregular_curve</c:v>
                  </c:pt>
                  <c:pt idx="6">
                    <c:v>multi_circles</c:v>
                  </c:pt>
                  <c:pt idx="7">
                    <c:v>vertical_line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qhed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circle</c:v>
                  </c:pt>
                  <c:pt idx="1">
                    <c:v>corner</c:v>
                  </c:pt>
                  <c:pt idx="2">
                    <c:v>diagonal_45</c:v>
                  </c:pt>
                  <c:pt idx="3">
                    <c:v>ellipse</c:v>
                  </c:pt>
                  <c:pt idx="4">
                    <c:v>horizontal_line</c:v>
                  </c:pt>
                  <c:pt idx="5">
                    <c:v>irregular_curve</c:v>
                  </c:pt>
                  <c:pt idx="6">
                    <c:v>multi_circles</c:v>
                  </c:pt>
                  <c:pt idx="7">
                    <c:v>vertical_line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0.7755102040816325</c:v>
                </c:pt>
                <c:pt idx="1">
                  <c:v>0.7499999999999999</c:v>
                </c:pt>
                <c:pt idx="2">
                  <c:v>0.9677419354838712</c:v>
                </c:pt>
                <c:pt idx="3">
                  <c:v>0.8947368421052632</c:v>
                </c:pt>
                <c:pt idx="4">
                  <c:v>1</c:v>
                </c:pt>
                <c:pt idx="5">
                  <c:v>0.9047619047619048</c:v>
                </c:pt>
                <c:pt idx="6">
                  <c:v>0.9047619047619048</c:v>
                </c:pt>
                <c:pt idx="7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neqr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circle</c:v>
                  </c:pt>
                  <c:pt idx="1">
                    <c:v>corner</c:v>
                  </c:pt>
                  <c:pt idx="2">
                    <c:v>diagonal_45</c:v>
                  </c:pt>
                  <c:pt idx="3">
                    <c:v>ellipse</c:v>
                  </c:pt>
                  <c:pt idx="4">
                    <c:v>horizontal_line</c:v>
                  </c:pt>
                  <c:pt idx="5">
                    <c:v>irregular_curve</c:v>
                  </c:pt>
                  <c:pt idx="6">
                    <c:v>multi_circles</c:v>
                  </c:pt>
                  <c:pt idx="7">
                    <c:v>vertical_line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0.7755102040816325</c:v>
                </c:pt>
                <c:pt idx="1">
                  <c:v>0.7499999999999999</c:v>
                </c:pt>
                <c:pt idx="2">
                  <c:v>0.9677419354838712</c:v>
                </c:pt>
                <c:pt idx="3">
                  <c:v>0.8947368421052632</c:v>
                </c:pt>
                <c:pt idx="4">
                  <c:v>1</c:v>
                </c:pt>
                <c:pt idx="5">
                  <c:v>0.9047619047619048</c:v>
                </c:pt>
                <c:pt idx="6">
                  <c:v>0.9047619047619048</c:v>
                </c:pt>
                <c:pt idx="7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500000"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82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827"/>
                </a:solidFill>
                <a:latin typeface="Arial"/>
              </a:rPr>
              <a:t>F1 by preprocessing strategy (lunar patches)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sobel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clahe</c:v>
                  </c:pt>
                  <c:pt idx="1">
                    <c:v>gamma_0.5</c:v>
                  </c:pt>
                  <c:pt idx="2">
                    <c:v>gamma_1.5</c:v>
                  </c:pt>
                  <c:pt idx="3">
                    <c:v>gaussian</c:v>
                  </c:pt>
                  <c:pt idx="4">
                    <c:v>hist_stretch</c:v>
                  </c:pt>
                  <c:pt idx="5">
                    <c:v>median</c:v>
                  </c:pt>
                  <c:pt idx="6">
                    <c:v>none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0.6770809270084963</c:v>
                </c:pt>
                <c:pt idx="1">
                  <c:v>0.7814570125271852</c:v>
                </c:pt>
                <c:pt idx="2">
                  <c:v>0.7710504305536704</c:v>
                </c:pt>
                <c:pt idx="3">
                  <c:v>0.8243445000591623</c:v>
                </c:pt>
                <c:pt idx="4">
                  <c:v>0.7814399755911079</c:v>
                </c:pt>
                <c:pt idx="5">
                  <c:v>0.7961244950066908</c:v>
                </c:pt>
                <c:pt idx="6">
                  <c:v>0.7814399755911079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robinson</c:v>
                </c:pt>
              </c:strCache>
            </c:strRef>
          </c:tx>
          <c:spPr>
            <a:solidFill>
              <a:srgbClr val="2CA0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clahe</c:v>
                  </c:pt>
                  <c:pt idx="1">
                    <c:v>gamma_0.5</c:v>
                  </c:pt>
                  <c:pt idx="2">
                    <c:v>gamma_1.5</c:v>
                  </c:pt>
                  <c:pt idx="3">
                    <c:v>gaussian</c:v>
                  </c:pt>
                  <c:pt idx="4">
                    <c:v>hist_stretch</c:v>
                  </c:pt>
                  <c:pt idx="5">
                    <c:v>median</c:v>
                  </c:pt>
                  <c:pt idx="6">
                    <c:v>none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0.7088444888766581</c:v>
                </c:pt>
                <c:pt idx="1">
                  <c:v>0.7693428695313231</c:v>
                </c:pt>
                <c:pt idx="2">
                  <c:v>0.7666396074246903</c:v>
                </c:pt>
                <c:pt idx="3">
                  <c:v>0.8489025965110099</c:v>
                </c:pt>
                <c:pt idx="4">
                  <c:v>0.7719839266163491</c:v>
                </c:pt>
                <c:pt idx="5">
                  <c:v>0.7997218306379407</c:v>
                </c:pt>
                <c:pt idx="6">
                  <c:v>0.7702680721208103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qhed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clahe</c:v>
                  </c:pt>
                  <c:pt idx="1">
                    <c:v>gamma_0.5</c:v>
                  </c:pt>
                  <c:pt idx="2">
                    <c:v>gamma_1.5</c:v>
                  </c:pt>
                  <c:pt idx="3">
                    <c:v>gaussian</c:v>
                  </c:pt>
                  <c:pt idx="4">
                    <c:v>hist_stretch</c:v>
                  </c:pt>
                  <c:pt idx="5">
                    <c:v>median</c:v>
                  </c:pt>
                  <c:pt idx="6">
                    <c:v>none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0.7867957113304501</c:v>
                </c:pt>
                <c:pt idx="1">
                  <c:v>0.194758278074708</c:v>
                </c:pt>
                <c:pt idx="2">
                  <c:v>0.5886645201573946</c:v>
                </c:pt>
                <c:pt idx="3">
                  <c:v>0.2675694008111041</c:v>
                </c:pt>
                <c:pt idx="4">
                  <c:v>0.7107648227748619</c:v>
                </c:pt>
                <c:pt idx="5">
                  <c:v>0.2923098494994491</c:v>
                </c:pt>
                <c:pt idx="6">
                  <c:v>0.4283639670848328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neqr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Segoe U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clahe</c:v>
                  </c:pt>
                  <c:pt idx="1">
                    <c:v>gamma_0.5</c:v>
                  </c:pt>
                  <c:pt idx="2">
                    <c:v>gamma_1.5</c:v>
                  </c:pt>
                  <c:pt idx="3">
                    <c:v>gaussian</c:v>
                  </c:pt>
                  <c:pt idx="4">
                    <c:v>hist_stretch</c:v>
                  </c:pt>
                  <c:pt idx="5">
                    <c:v>median</c:v>
                  </c:pt>
                  <c:pt idx="6">
                    <c:v>none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0.8056501395240514</c:v>
                </c:pt>
                <c:pt idx="1">
                  <c:v>0.7290058239639787</c:v>
                </c:pt>
                <c:pt idx="2">
                  <c:v>0.7236622484047697</c:v>
                </c:pt>
                <c:pt idx="3">
                  <c:v>0.6076207785005002</c:v>
                </c:pt>
                <c:pt idx="4">
                  <c:v>0.7256096584566474</c:v>
                </c:pt>
                <c:pt idx="5">
                  <c:v>0.6478202290055532</c:v>
                </c:pt>
                <c:pt idx="6">
                  <c:v>0.7255117866004963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200000"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1182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QUANTUM IMAGE PROCESSING  ·  RESEARCH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Quantum Edge Detection Under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Changing Image Conditions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QPIE amplitude encoding + Hadamard interference  vs  NEQR basis-state encoding + quantum arithmetic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7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comparative study with Sobel / Canny / Robinson baselines on grayscale lunar crater imagery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Qiskit 2.x  ·  Qiskit AerSimulator (ideal + exact density-matrix noise)  ·  OpenCV  ·  10 experiments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quantum edge detection on lunar craters?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Crater rims are mission-critical edges — and illumination changes them daily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Mission-critical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931920" y="1645920"/>
            <a:ext cx="7708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Rim boundaries feed rover navigation, geological dating, and landing-zone selection.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6148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Illumination stress test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2761488"/>
            <a:ext cx="7708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Solar incidence angle swings crater contrast dramatically — a natural robustness benchmark.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63016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7705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representations, one question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1920" y="3877056"/>
            <a:ext cx="7708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QPIE stores intensity in probability amplitudes; NEQR stores exact bytes in the computational basis. Does the choice change edge quality, robustness, and cost?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745736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99262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Unexplored domain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31920" y="4992624"/>
            <a:ext cx="7708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published quantum image processing study on planetary surface imagery.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861304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1722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research question: does the quantum image representation itself significantly affect edge-detection quality, robustness, and resource cost?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independent quantum pipelines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Validated against analytic target statevectors before any benchmarking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0E7F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A — QPIE + QHED  (Yao et al., PRX 2017)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Intensity lives in probability amplitudes:  |ψ⟩ = Σ I(r,c)|r,c⟩ / ‖I‖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operator: Hadamard → decrement → Hadamard interference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P(edge) ∝ |a(r,c) − a(neighbour)|² per shot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logical qubits at 8×8 (position + 1 ancilla)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60020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6565392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B — NEQR + quantum gradient  (Zhang et al., 2013)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65392" y="2395728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8-bit intensity register in the computational basis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Neighbour image loaded by inverted-control state preparation (quantum translation)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CDKM ripple-carry subtractor computes F − G exactly, with sign carry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logical qubits at 8×8 (position + 2 intensity registers + ancillas)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branches emit continuous per-pixel confidence maps — never hard-thresholded inside the quantum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Circuit correctness: proven, not assumed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quantum primitive checked against exhaustive classical references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10⁻¹⁴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|circuit − analytic| deviation,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QHED statevector vs Yao-formula (sizes 2/4/8)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0" y="1920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206240" y="2834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NEQR pixel recovery at 4×4: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measured byte exact, uniform 1/16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0" y="19202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2×256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863840" y="2834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increment/decrement gates verified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exhaustively over all inputs, widths 1–4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Quantum subtractor: 300 random cases across 2/3/4/8-bit widths, operand restoration and ancilla cleanliness asserted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NEQR gradient payload (F, Δ, sign carry) matches the analytic target state bit-for-bit in both directions</a:t>
            </a:r>
            <a:endParaRPr lang="en-US" sz="140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4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Ideal-sampling path statistically validated against real circuit execution at 200k shots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protocol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ground truth — classical detectors are baselines, never the reference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Ground truth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74720" y="169164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 pixel masks (synthetic geometry) and annotation-derived rim masks (lunar patches) — never a detector output.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0" y="260604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Validation-set sweep per method (0.01–0.99), frozen before test evaluation; full PR curves reported threshold-free.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352044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 = 10 repeated trials per configuration with shot-seed variation → mean ± std; classical results deterministic.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 simulation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443484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density-matrix execution of the real transpiled circuit (hardware basis {rz, sx, x, cx}); no trajectory approximations.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3492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5349240"/>
            <a:ext cx="8165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Boundary F1 at 0/1/2-px tolerance, precision, recall, IoU, Chamfer distance, PR-AUC, robustness AUC.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 1 — representation ablation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images, shots, thresholds; only the quantum representation changes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852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949440" y="1920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0.90 vs 0.90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949440" y="28346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 on synthetic images: NEQR vs QHED — identical 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sets, radically different cost (next slide)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49440" y="37947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real lunar patches NEQR keeps F1 ≈ 0.88 while QHED drops to ≈ 0.42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Cause: QHED’s P ∝ |Δamplitude|² compresses weak amplitude differences of low-contrast terrain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NEQR’s exact byte differences remain uniform in sensitivity across contrast levels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Experiments 2 &amp; 9 — resource scaling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Qubits grow logarithmically; gates and depth do not (H6 confirmed)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04088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→ 24 → 26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040880" y="27432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NEQR logical qubits, 4→8→16 px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(logarithmic — QHED: 5 → 7 → 9)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040880" y="37033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NEQR gates 289 → 1,301 → 6,009: ≈ 21× growth for a 16× pixel increase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Transpiled depth follows the same law (184 → 648 → 2,408)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Kernel vs E2E time reported separately; state preparation dominates — no quantum-advantage claims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 3 — shot-count sensitivity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Binomial variance law visible; F1 saturates by ~1,024 shots (H2 confirmed)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9202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12E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1/shots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589520" y="28346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per-pixel map variance follows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binomial law exactly across 512→32,768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589520" y="37490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512-shot runs show the largest variance (σ ≈ 0.02–0.06)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Diminishing returns above ~2,048 shots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 plateaus well before the 8,192-shot default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 4 — degradation robustness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Robustness AUC = area under the F1-vs-degradation curve (higher = more graceful)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210312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Sobel is the most degradation-tolerant classical baseline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QHED’s amplitude normalisation makes global contrast changes non-linear — visible in its contrast AUC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NEQR tracks QHED under blur but degrades under extreme low illumination (wraparound artefact, Exp 10)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 5 — quantum hardware noise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density-matrix execution of the real transpiled circuits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5836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2103120"/>
            <a:ext cx="4023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F1 survives noise far longer than circuit fidelity: NEQR keeps F1 = 1.0 even at fidelity 0.003 — the mean-based reconstruction averages depolarizing noise away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Depth penalty is real: at p = 0.005 the 12-qubit NEQR circuit loses fidelity (0.33) that the 3-qubit QHED keeps (0.999) — H5 confirmed on fidelity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Coherent over-rotation injects bias invisible to averaged fidelity metrics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 6 — geometry ablation with Robinson diagnostics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Robinson compass separates quantum-specific failures (A) from image-level ones (B)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210312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Quantum F1 drops on corner junctions where classical detectors stay strong → Case A: quantum-specific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Robinson’s dominant-direction map confirms the image itself is well-defined in those cases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Curved rims rotate through all 8 compass directions — compounding directional limits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 7 — preprocessing strategies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preprocessing help the quantum pipelines on lunar patches? (H7)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2103120"/>
            <a:ext cx="3749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CLAHE and histogram stretch help low-contrast lunar patches most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Aggressive smoothing (median, Gaussian) can erase thin rim signals before encoding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Gamma correction trades shadow recovery against highlight saturation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 8 — lunar crater benchmark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Annotation-derived rim masks; 8×8 and 16×16 patches; n = 10 trials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498080" cy="914400"/>
        </p:xfrm>
        <a:graphic>
          <a:graphicData uri="http://schemas.openxmlformats.org/drawingml/2006/table">
            <a:tbl>
              <a:tblPr/>
              <a:tblGrid>
                <a:gridCol w="1071154"/>
                <a:gridCol w="1071154"/>
                <a:gridCol w="1071154"/>
                <a:gridCol w="1071154"/>
                <a:gridCol w="1071154"/>
                <a:gridCol w="1071154"/>
                <a:gridCol w="107115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size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F1 exact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F1 1-px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F1 2-px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IoU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PR-AUC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canny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neqr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qhed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robinson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sobel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canny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neqr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0.32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qhed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0.17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robinson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0.48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sobel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0.69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321040" y="210312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metric battery per patch and method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Illumination grouping available via tile metadata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Rim masks derived from annotations — independent of every detector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Hypothesis scorecard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Pre-registered in PROJECT_SUMMARY.md §9 before execution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680960"/>
                <a:gridCol w="25877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Hypothesis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Verdict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Degradation reduces F1 at different rates per representation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F1 improves with shots, saturating with diminishing returns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QHED weaker on curved/diagonal edges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CONFIRMED (Exp 6)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H4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Low-contrast rims give lower quantum F1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H5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Equal depolarizing rates hurt deeper NEQR more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cost grows far faster than qubit count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H7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Preprocessing helps low-contrast patches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H8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Quantum E2E time exceeds classical at all scales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1182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CONFIRMED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Representation matters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23360" y="1737360"/>
            <a:ext cx="7616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NEQR’s exact arithmetic transfers to low-contrast planetary terrain; QHED’s quadratic amplitude mapping compresses weak edges.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6148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Resources, not qubits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23360" y="2761488"/>
            <a:ext cx="7616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count and depth — not logical qubit count — dominate the quantum cost of edge detection at NISQ scales.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8561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Measurement saturates early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0" y="3785616"/>
            <a:ext cx="7616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1,024–2,048 shots capture nearly all attainable quality; more shots only shrink binomial tails.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974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Noise is structural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023360" y="4809744"/>
            <a:ext cx="7616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CB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Readout error is representation-agnostic; depolarizing error amplifies with depth; coherent bias needs distribution-level diagnostics.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reproducibility:  tests/ → experiments/run_all.py → results/  ·  report/final_report.md + PDF  ·  Streamlit dashboard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Edge Detection Under Changing Image Conditions</dc:title>
  <dc:subject>PptxGenJS Presentation</dc:subject>
  <dc:creator>Quantum Edge Detection Project</dc:creator>
  <cp:lastModifiedBy>Quantum Edge Detection Project</cp:lastModifiedBy>
  <cp:revision>1</cp:revision>
  <dcterms:created xsi:type="dcterms:W3CDTF">2026-10-04T11:55:49Z</dcterms:created>
  <dcterms:modified xsi:type="dcterms:W3CDTF">2026-10-04T11:55:49Z</dcterms:modified>
</cp:coreProperties>
</file>